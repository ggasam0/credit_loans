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DA</c:v>
                </c:pt>
                <c:pt idx="1">
                  <c:v>L-Tab</c:v>
                </c:pt>
                <c:pt idx="2">
                  <c:v>XGB</c:v>
                </c:pt>
                <c:pt idx="3">
                  <c:v>LLM-2S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0.4175</c:v>
                </c:pt>
                <c:pt idx="1">
                  <c:v>0.4154</c:v>
                </c:pt>
                <c:pt idx="2">
                  <c:v>0.403</c:v>
                </c:pt>
                <c:pt idx="3">
                  <c:v>0.3653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DA</c:v>
                </c:pt>
                <c:pt idx="1">
                  <c:v>L-Tab</c:v>
                </c:pt>
                <c:pt idx="2">
                  <c:v>XGB</c:v>
                </c:pt>
                <c:pt idx="3">
                  <c:v>LLM-2S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0.4317</c:v>
                </c:pt>
                <c:pt idx="1">
                  <c:v>0.4538</c:v>
                </c:pt>
                <c:pt idx="2">
                  <c:v>0.4378</c:v>
                </c:pt>
                <c:pt idx="3">
                  <c:v>0.3675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885482b-94f5-45c1-a875-18f18046409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A4A6"/>
          </a:solidFill>
        </p:spPr>
      </p:sp>
      <p:sp>
        <p:nvSpPr>
          <p:cNvPr id="3" name="Text 1"/>
          <p:cNvSpPr/>
          <p:nvPr/>
        </p:nvSpPr>
        <p:spPr>
          <a:xfrm>
            <a:off x="777240" y="1143000"/>
            <a:ext cx="1078992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基于双口径评估的信贷风控顶点项目：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结构化模型与文本模型的可落地比较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74904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Capstone | Final Presentation v4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作者：&lt;姓名/学号&gt;   日期：2026-02-21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9601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研究问题与目录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研究问题（RQ）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RQ1：统一流程下各模型家族如何比较？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RQ2：固定拒绝率约束是否改变排序？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RQ3：LLM 当前适合主判还是辅助？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RQ4：共享子集结论能否外推全量分布？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1005840"/>
            <a:ext cx="52120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汇报目录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双口径评估协议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口径A主结果（公平主榜）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3) 口径B部署结果（全量分布）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4) 误差结构与业务代价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5) 部署建议与后续路线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9601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双口径方法设计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85800" y="1097280"/>
          <a:ext cx="109728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口径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样本规模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 RR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口径 A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共享高风险子集 n=7108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35%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公平横评（主榜）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口径 B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全量样本 n=123,202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0.1533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部署评估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3703320"/>
            <a:ext cx="10972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统一执行流程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train_fit 训练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validation 按目标 RR 定阈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3) test 固定阈值评估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4) 结果落地 run_report.json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关键约束：禁止测试集调参，确保跨模型可比性。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模型家族与试点产物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2651760" cy="4389120"/>
          </a:xfrm>
          <a:prstGeom prst="roundRect">
            <a:avLst/>
          </a:prstGeom>
          <a:solidFill>
            <a:srgbClr val="F3FAF7"/>
          </a:solidFill>
          <a:ln w="15240">
            <a:solidFill>
              <a:srgbClr val="8FCFB7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DataAnalysis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规则化风险画像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可解释业务基线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1051560"/>
            <a:ext cx="2651760" cy="4389120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A7C6E8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ML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logistic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xgboost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1051560"/>
            <a:ext cx="2468880" cy="4389120"/>
          </a:xfrm>
          <a:prstGeom prst="roundRect">
            <a:avLst/>
          </a:prstGeom>
          <a:solidFill>
            <a:srgbClr val="F8F5FD"/>
          </a:solidFill>
          <a:ln w="15240">
            <a:solidFill>
              <a:srgbClr val="CDB8E8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BERT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Embedding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Finetune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051560"/>
            <a:ext cx="2286000" cy="4389120"/>
          </a:xfrm>
          <a:prstGeom prst="roundRect">
            <a:avLst/>
          </a:prstGeom>
          <a:solidFill>
            <a:srgbClr val="FDF5F4"/>
          </a:solidFill>
          <a:ln w="15240">
            <a:solidFill>
              <a:srgbClr val="E7B8B1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Two-stage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One-stage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GPT-5.2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577840"/>
            <a:ext cx="10881360" cy="777240"/>
          </a:xfrm>
          <a:prstGeom prst="roundRect">
            <a:avLst/>
          </a:prstGeom>
          <a:solidFill>
            <a:srgbClr val="DDE8F5"/>
          </a:solidFill>
          <a:ln>
            <a:solidFill>
              <a:srgbClr val="DDE8F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4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试点通过标准：数据一致、流程一致、结果可回查、偏差可解释（Pilot Exit Criteria）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口径 A 主结果（公平主榜）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201400" cy="274320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4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主榜规则：仅比较 Reject Rate 接近 35% 的模型；扩展组仅用于策略观察。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188720"/>
          <a:ext cx="5806440" cy="3383280"/>
        </p:xfrm>
        <a:graphic>
          <a:graphicData uri="http://schemas.openxmlformats.org/drawingml/2006/table">
            <a:tbl>
              <a:tblPr/>
              <a:tblGrid>
                <a:gridCol w="1451610"/>
                <a:gridCol w="1451610"/>
                <a:gridCol w="1451610"/>
                <a:gridCol w="1451610"/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模型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ABR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DataAnalysis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0.4175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0.4317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0.3120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logistic_tabular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0.4154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0.4538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0.3098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xgboost_tabular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0.4030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0.4378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0.3178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Two-Stage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0.3653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0.3675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0.3420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537960" y="118872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709160"/>
            <a:ext cx="5806440" cy="1645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FCFB7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关键观察：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logistic_tabular 的违约捕获率最高（Recall 0.4538），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DataAnalysis 的 Precision 略高（0.4175）。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537960" y="4709160"/>
            <a:ext cx="5120640" cy="1645920"/>
          </a:xfrm>
          <a:prstGeom prst="roundRect">
            <a:avLst/>
          </a:prstGeom>
          <a:solidFill>
            <a:srgbClr val="FFF8F7"/>
          </a:solidFill>
          <a:ln w="16510">
            <a:solidFill>
              <a:srgbClr val="E8B9B4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扩展组提醒：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One-Stage LLM 与 GPT-5.2 的高召回伴随高 RR 偏移，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不进入公平主榜结论。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P5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" y="658368"/>
            <a:ext cx="107899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E8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指标释义：ABR=审批坏账率；Reject Rate=拒绝率；主榜比较在 RR≈35% 约束下进行。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口径 B 结果与误差结构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5440680" cy="640080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A7C6E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口径B最优：ML xgboost_tabular（Precision 0.3153, Lift 2.0568）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46520" y="868680"/>
            <a:ext cx="5212080" cy="640080"/>
          </a:xfrm>
          <a:prstGeom prst="roundRect">
            <a:avLst/>
          </a:prstGeom>
          <a:solidFill>
            <a:srgbClr val="F3FAF7"/>
          </a:solidFill>
          <a:ln w="15240">
            <a:solidFill>
              <a:srgbClr val="8FCF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排序变化：口径A与口径B最优模型不同，说明分布与目标函数会改变结论。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85800" y="1691640"/>
          <a:ext cx="5486400" cy="22402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模型（口径B）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Lift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logistic_tabular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0.3069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0.2992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2.0023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xgboost_tabular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0.3153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0.3095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2.0568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DataAnalysis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0.2849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0.2851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1.8589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6446520" y="1691640"/>
          <a:ext cx="5212080" cy="224028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模型（口径A）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TP/1000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FN/1000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FP/1000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logistic_tabular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158.9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191.3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223.6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DataAnalysis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151.2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199.0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211.0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Two-Stage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128.7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221.5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223.6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5800" y="4160520"/>
            <a:ext cx="10972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业务解读：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口径B中 xgboost_tabular 在真实分布更占优；口径A中 logistic_tabular 与 DataAnalysis 更稳健。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说明“公平横评结论”与“部署口径结论”需要并列汇报，不应混用。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" y="6355080"/>
            <a:ext cx="6217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注：Lift = Precision / Base Bad Rate（基准坏账率）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监控规则与双榜汇报边界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RR 监控规则（按 |RR_gap| 分层）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绿色：&lt;= 0.01（稳定）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黄色：(0.01, 0.03]（预警）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红色：&gt; 0.03（触发复标定）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RR_gap = RR_actual - RR_target</a:t>
            </a:r>
            <a:endParaRPr lang="en-US" sz="128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口径A示例（RR_target=35%）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DataAnalysis：RR_actual=0.3622，RR_gap=+0.0122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logistic_tabular：RR_gap=+0.0326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One-stage LLM：RR_gap=+0.2597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GPT-5.2：RR_gap=+0.4728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1051560"/>
            <a:ext cx="52120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主榜/扩展榜双层规则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主榜（公平比较）：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仅纳入 RR 接近目标值模型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比较 Precision / Lift / ABR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扩展榜（策略观察）：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报告所有模型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解释“高召回是否由高拒绝率驱动”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结论使用原则：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主榜决定上线候选，扩展榜用于监控与校准设计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581785"/>
            <a:ext cx="201168" cy="201168"/>
          </a:xfrm>
          <a:prstGeom prst="roundRect">
            <a:avLst/>
          </a:prstGeom>
          <a:solidFill>
            <a:srgbClr val="8FCFB7"/>
          </a:solidFill>
          <a:ln w="12700">
            <a:solidFill>
              <a:srgbClr val="8FCF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46453"/>
            <a:ext cx="201168" cy="201168"/>
          </a:xfrm>
          <a:prstGeom prst="roundRect">
            <a:avLst/>
          </a:prstGeom>
          <a:solidFill>
            <a:srgbClr val="F2CD62"/>
          </a:solidFill>
          <a:ln w="12700">
            <a:solidFill>
              <a:srgbClr val="F2CD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11375"/>
            <a:ext cx="201168" cy="201168"/>
          </a:xfrm>
          <a:prstGeom prst="roundRect">
            <a:avLst/>
          </a:prstGeom>
          <a:solidFill>
            <a:srgbClr val="E7847B"/>
          </a:solidFill>
          <a:ln w="12700">
            <a:solidFill>
              <a:srgbClr val="E7847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部署建议与下一步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54864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部署建议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高风险客群：DataAnalysis + logistic_tabular 双线复核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全量预筛：xgboost_tabular 主判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LLM：解释与复核辅助层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大模型直接主判：当前不建议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风险边界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高风险子集不代表全客群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时序外推仍需补测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 标签与业务代价假设存在漂移风险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46520" y="3703320"/>
            <a:ext cx="5212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30/60/90 天落地节奏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D+30：完成时间外滚动验证与阈值回放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D+60：上线 RR_gap 自动监控与告警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D+90：推进结构化/文本联合建模试点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里程碑门槛：稳定性达标后再评估 LLM 主判可行性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可复现证据链与交付清单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85800" y="1051560"/>
          <a:ext cx="10972800" cy="2971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关键产物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审计检查点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数据准备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shared_subset / full_processed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样本规模、标签口径一致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模型训练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run_*.py + split files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是否仅 train/validation 定阈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测试评估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run_report.json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是否存在测试集反向调参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报告固化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7000main.md / presentation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表格数值与JSON一致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51960"/>
            <a:ext cx="10972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最终提交前检查清单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研究问题与假说在结果章节有直接证据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无测试集调参，阈值流程一致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3) 主文档结论可回查到 run_report.json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4) 展示稿与书面报告叙述一致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结论与 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241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最终结论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固定拒绝率公平比较下，结构化模型仍是主判首选。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全量真实分布下，xgboost_tabular 综合最优。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3) LLM 当前更适合解释与复核辅助层。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4) 后续优化以“稳定性与校准”优先。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59436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4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71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DSCI 7000 | 双口径评估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78040" y="3883660"/>
            <a:ext cx="3291840" cy="1005840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A7C6E8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 引导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若业务追求更高召回，如何控制 RR 偏移？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何时让 LLM 从辅助层进入主判层？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2765</Words>
  <Application>WPS 演示</Application>
  <PresentationFormat>On-screen Show (16:9)</PresentationFormat>
  <Paragraphs>358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DSCI 7000 Capstone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基于双口径评估的信贷风控顶点项目：结构化模型与文本模型的可落地比较</dc:title>
  <dc:creator>&lt;姓名/学号&gt;</dc:creator>
  <dc:subject>DSCI 7000 Capstone Presentation</dc:subject>
  <cp:lastModifiedBy>Kawhi</cp:lastModifiedBy>
  <cp:revision>2</cp:revision>
  <dcterms:created xsi:type="dcterms:W3CDTF">2026-02-21T21:27:00Z</dcterms:created>
  <dcterms:modified xsi:type="dcterms:W3CDTF">2026-02-21T21:29:21Z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87AF2B86E836406987F3BEFAAC999C8F_12</vt:lpwstr>
  </property>
  <property fmtid="{D5CDD505-2E9C-101B-9397-08002B2CF9AE}" pid="3" name="KSOProductBuildVer">
    <vt:lpwstr>2052-12.1.0.25222</vt:lpwstr>
  </property>
</Properties>
</file>