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logistic_tabular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20%</c:v>
                  </c:pt>
                  <c:pt idx="2">
                    <c:v>35%</c:v>
                  </c:pt>
                  <c:pt idx="3">
                    <c:v>50%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</c:v>
                </c:pt>
                <c:pt idx="1">
                  <c:v>0.4712</c:v>
                </c:pt>
                <c:pt idx="2">
                  <c:v>0.4154</c:v>
                </c:pt>
                <c:pt idx="3">
                  <c:v>0.4023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DataAnalysis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20%</c:v>
                  </c:pt>
                  <c:pt idx="2">
                    <c:v>35%</c:v>
                  </c:pt>
                  <c:pt idx="3">
                    <c:v>50%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0.4797</c:v>
                </c:pt>
                <c:pt idx="1">
                  <c:v>0.4254</c:v>
                </c:pt>
                <c:pt idx="2">
                  <c:v>0.4175</c:v>
                </c:pt>
                <c:pt idx="3">
                  <c:v>0.3992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xgboost_tabular</c:v>
                </c:pt>
              </c:strCache>
            </c:strRef>
          </c:tx>
          <c:spPr>
            <a:solidFill>
              <a:srgbClr val="9BBB59"/>
            </a:solidFill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20%</c:v>
                  </c:pt>
                  <c:pt idx="2">
                    <c:v>35%</c:v>
                  </c:pt>
                  <c:pt idx="3">
                    <c:v>50%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0.4248</c:v>
                </c:pt>
                <c:pt idx="1">
                  <c:v>0.4415</c:v>
                </c:pt>
                <c:pt idx="2">
                  <c:v>0.403</c:v>
                </c:pt>
                <c:pt idx="3">
                  <c:v>0.3963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BERT-Finetune</c:v>
                </c:pt>
              </c:strCache>
            </c:strRef>
          </c:tx>
          <c:spPr>
            <a:solidFill>
              <a:srgbClr val="8064A2"/>
            </a:solidFill>
            <a:ln w="25400" cap="flat">
              <a:solidFill>
                <a:srgbClr val="8064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64A2"/>
              </a:solidFill>
              <a:ln w="9525" cap="flat">
                <a:solidFill>
                  <a:srgbClr val="8064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20%</c:v>
                  </c:pt>
                  <c:pt idx="2">
                    <c:v>35%</c:v>
                  </c:pt>
                  <c:pt idx="3">
                    <c:v>50%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0.4044</c:v>
                </c:pt>
                <c:pt idx="1">
                  <c:v>0.3789</c:v>
                </c:pt>
                <c:pt idx="2">
                  <c:v>0.3895</c:v>
                </c:pt>
                <c:pt idx="3">
                  <c:v>0.3826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A4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430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基于借款描述文本的信用违约评估：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传统模型与两阶段 LLM 的统一口径实验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6800 Final Project Presentation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800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作者：&lt;姓名/学号&gt;   课程：6800 Final Project   日期：2026-02-21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 报告目录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6070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研究动机与问题定义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文献脉络与研究定位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数据集与任务设定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方法与评估协议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5) 口径A主结果（公平主榜）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6) 扩展LLM结果与口径B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7) 稳健性与代价解释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8) 讨论、局限与改进方向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9) 可复现性与结论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6355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D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建议汇报时长：10-12分钟；重点说明固定拒绝率约束下的公平比较。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686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研究动机与核心问题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P2P 借贷存在信息不对称，结构化变量不完整。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借款描述文本（desc）提供还款意愿与财务压力软信息。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仅看 AUC 难映射审批策略，上线需要固定拒绝率口径。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55080" y="960120"/>
            <a:ext cx="52120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研究问题与贡献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RQ1: 固定拒绝率下文本模型是否稳定优于结构化？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RQ2: 拒绝率目标变化时模型排序是否迁移？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RQ3: 两阶段 LLM 重标定能否带来业务收益？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统一代码与口径的公平比较。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共享子集 + 全量分布双口径验证。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补充 RR 扫描、阈值敏感性与 Bootstrap CI。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文献脉络与本文定位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728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代表工作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主要贡献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典型局限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经典评分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[1]-[5]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建立信用评分评估范式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软信息覆盖不足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P2P 实证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[6]-[10]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验证信息不对称与软筛选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文本建模深度不足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文本建模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[11]-[16]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量化文本软信息增量价值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阈值控制与解释仍困难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[17]-[21]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语义能力与生成能力显著提升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稳定性、校准与成本约束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937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本文定位：不证明“LLM 必然更好”，而是验证在同数据、同切分、同拒绝率约束下，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哪类模型更适合作为主判引擎，哪类模型应作为解释辅助层。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数据集、标签与双口径设置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原始读取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2,260,701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accepted_2007_to_2018Q4.csv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123,202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去重与缺失处理后可用样本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共享高风险子集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7,108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grade∈{E,F,G}, int_rate&gt;=18.5, annual_inc&lt;=92,500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8404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标签定义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target=1: Charged Off（违约）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target=0: Fully Paid（履约）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任务：固定拒绝率下的违约识别与放行风险控制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09360" y="384048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双口径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口径A（公平横评）：共享子集 + RR=35%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口径B（业务分布）：全量样本 + RR=0.1533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目的：区分“模型能力”与“分布/策略口径”影响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方法框架与评估协议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27080" cy="320040"/>
          </a:xfrm>
          <a:prstGeom prst="roundRect">
            <a:avLst/>
          </a:prstGeom>
          <a:solidFill>
            <a:srgbClr val="DDE8F5"/>
          </a:solidFill>
          <a:ln>
            <a:solidFill>
              <a:srgbClr val="DDE8F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Positioning: tabular models are primary decision candidates; BERT/LLM are evaluated for incremental value and deployability.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2651760" cy="4206240"/>
          </a:xfrm>
          <a:prstGeom prst="roundRect">
            <a:avLst/>
          </a:prstGeom>
          <a:solidFill>
            <a:srgbClr val="F3FAF7"/>
          </a:solidFill>
          <a:ln w="15240">
            <a:solidFill>
              <a:srgbClr val="8FCFB7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DataAnalysis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规则化风险画像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验证集定阈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可解释业务基线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2651760" cy="4206240"/>
          </a:xfrm>
          <a:prstGeom prst="roundRect">
            <a:avLst/>
          </a:prstGeom>
          <a:solidFill>
            <a:srgbClr val="F4F8FD"/>
          </a:solidFill>
          <a:ln w="15240">
            <a:solidFill>
              <a:srgbClr val="A7C6E8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ML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logistic_tabular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logistic_text_fusion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xgboost_tabular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1188720"/>
            <a:ext cx="2468880" cy="4206240"/>
          </a:xfrm>
          <a:prstGeom prst="roundRect">
            <a:avLst/>
          </a:prstGeom>
          <a:solidFill>
            <a:srgbClr val="F8F5FD"/>
          </a:solidFill>
          <a:ln w="15240">
            <a:solidFill>
              <a:srgbClr val="CDB8E8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Embedding+LR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端到端微调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max_length=512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0" y="1188720"/>
            <a:ext cx="2286000" cy="4206240"/>
          </a:xfrm>
          <a:prstGeom prst="roundRect">
            <a:avLst/>
          </a:prstGeom>
          <a:solidFill>
            <a:srgbClr val="FDF5F4"/>
          </a:solidFill>
          <a:ln w="15240">
            <a:solidFill>
              <a:srgbClr val="E7B8B1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Two-stage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One-stage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GPT-5.2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10789920" cy="731520"/>
          </a:xfrm>
          <a:prstGeom prst="roundRect">
            <a:avLst/>
          </a:prstGeom>
          <a:solidFill>
            <a:srgbClr val="DDE8F5"/>
          </a:solidFill>
          <a:ln>
            <a:solidFill>
              <a:srgbClr val="DDE8F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统一流程：验证集按目标 RR 选阈值 -&gt; 固定阈值后在测试集一次性评估（禁止测试集调参）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主结果（口径A：共享子集，RR=35%）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768096"/>
            <a:ext cx="11384280" cy="256032"/>
          </a:xfrm>
          <a:prstGeom prst="roundRect">
            <a:avLst/>
          </a:prstGeom>
          <a:solidFill>
            <a:srgbClr val="E8F0FC"/>
          </a:solidFill>
          <a:ln>
            <a:solidFill>
              <a:srgbClr val="E8F0F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主榜公平规则：仅比较 Reject Rate 接近 35% 的模型。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11384280" cy="3401568"/>
        </p:xfrm>
        <a:graphic>
          <a:graphicData uri="http://schemas.openxmlformats.org/drawingml/2006/table">
            <a:tbl>
              <a:tblPr/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Bad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Lift@RR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logistic_tabular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logistic_text_fusion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xgboost_tabular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BERT-Finetune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Two-Stage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617720"/>
            <a:ext cx="2743200" cy="1828800"/>
          </a:xfrm>
          <a:prstGeom prst="roundRect">
            <a:avLst/>
          </a:prstGeom>
          <a:solidFill>
            <a:srgbClr val="EEF7F1"/>
          </a:solidFill>
          <a:ln w="16510">
            <a:solidFill>
              <a:srgbClr val="8FCF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 Precision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DataAnalysis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0.4175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66160" y="4617720"/>
            <a:ext cx="2743200" cy="1828800"/>
          </a:xfrm>
          <a:prstGeom prst="roundRect">
            <a:avLst/>
          </a:prstGeom>
          <a:solidFill>
            <a:srgbClr val="EEF3FB"/>
          </a:solidFill>
          <a:ln w="16510">
            <a:solidFill>
              <a:srgbClr val="A7C6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最优捕获/代价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logistic_tabular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 0.4538 | ABR 0.3098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0" y="4617720"/>
            <a:ext cx="5166360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FAED4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口径A关键结论：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DataAnalysis 与 logistic_tabular 仍是最稳健选择。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两阶段 LLM 可用，但在 Precision 与通过坏账率控制上仍落后。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扩展结果：LLM 对比与全量口径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A) 扩展 LLM（同测试集，未全部满足 RR 对齐）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54864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Two-Stage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One-Stage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GPT-5.2 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29000"/>
            <a:ext cx="5486400" cy="2606040"/>
          </a:xfrm>
          <a:prstGeom prst="roundRect">
            <a:avLst/>
          </a:prstGeom>
          <a:solidFill>
            <a:srgbClr val="FFF8F7"/>
          </a:solidFill>
          <a:ln w="16510">
            <a:solidFill>
              <a:srgbClr val="E8B9B4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One-Stage 与 GPT-5.2 的召回提升伴随明显 Reject Rate 偏移。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不符合主榜公平比较入榜条件。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可用于说明“校准优先”的必要性。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46520" y="914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B) 全量分布口径（n=123,202，RR=0.1533）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234440"/>
          <a:ext cx="5212080" cy="228600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logistic_tabular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logistic_text_fusion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xgboost_tabular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46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结论：全量分布下 xgboost_tabular 成为综合最优。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模型排序会随样本分布与目标 RR 改变。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617720" y="932688"/>
            <a:ext cx="1417320" cy="237744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E8B9B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偏移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0195560" y="932688"/>
            <a:ext cx="1417320" cy="237744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9BC8A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主榜范围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稳健性：拒绝率扫描与误差结构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00584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005840"/>
          <a:ext cx="5212080" cy="2240280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  <a:gridCol w="1303020"/>
                <a:gridCol w="130302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FN/1000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FP/1000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logistic_tabular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BERT-Finetune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Two-Stage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46520" y="347472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业务解释：logistic_tabular 与 LLM Two-Stage 的 FP 规模几乎相当，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但前者每千笔可多捕获约 30.2 笔违约。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差距核心在违约识别能力，而非过度拒绝。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讨论、局限与改进优先级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为何结构化主线仍占优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高风险子集强化结构化信号。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两阶段 LLM 教师理由模板化。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决策头二元化，难用足上下文。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0.6B 模型与当前数据规模错配。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5) 无校准时易出现“高拒绝率换高召回”假优势。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55080" y="100584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有效性威胁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主实验聚焦高风险子集，外推需谨慎。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当前以随机切分为主，时间外推尚未完整验证。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desc 字段历史可用性不均衡。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3657600"/>
            <a:ext cx="52578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改进优先级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高优先：教师信号升级 + LLM 概率校准。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中优先：结构化与文本联合判别头。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低优先：只增加提示词复杂度（边际收益有限）。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 关键结论（单页总结）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面向固定拒绝率约束的上线决策建议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3611880" cy="2011680"/>
          </a:xfrm>
          <a:prstGeom prst="roundRect">
            <a:avLst/>
          </a:prstGeom>
          <a:solidFill>
            <a:srgbClr val="EEF7F1"/>
          </a:solidFill>
          <a:ln w="16510">
            <a:solidFill>
              <a:srgbClr val="8FCF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口径A最优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DataAnalysis / logistic_tabular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051560"/>
            <a:ext cx="3611880" cy="2011680"/>
          </a:xfrm>
          <a:prstGeom prst="roundRect">
            <a:avLst/>
          </a:prstGeom>
          <a:solidFill>
            <a:srgbClr val="EEF3FB"/>
          </a:solidFill>
          <a:ln w="16510">
            <a:solidFill>
              <a:srgbClr val="A7C6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口径B最优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xgboost_tabular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1051560"/>
            <a:ext cx="3154680" cy="2011680"/>
          </a:xfrm>
          <a:prstGeom prst="roundRect">
            <a:avLst/>
          </a:prstGeom>
          <a:solidFill>
            <a:srgbClr val="FDF5F4"/>
          </a:solidFill>
          <a:ln w="16510">
            <a:solidFill>
              <a:srgbClr val="E7B8B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LLM 角色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+ 复核辅助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108356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高召回不等于更优：若 Reject Rate 远高于目标，则不可直接视为主榜优势。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当前差距核心在违约捕获能力（TP/FN），而非单纯“拒得更多”（FP）。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下一步优先级：提升教师信号 + 概率校准 + 结构化/文本联合判别头。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024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可复现性与最终结论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6235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代码-结论映射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workflow_common.py：清洗/切分/阈值/指标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ml_standalone/run_ml_pipeline.py：传统 ML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bert_standalone/run_bert_pipeline.py：BERT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llm_standalone/run_llm_two_stage.py：两阶段 LLM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output/doc/report_tables/*.csv：论文主表来源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5623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复现步骤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运行 ML + DataAnalysis + BERT。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运行 two-stage / one-stage LLM。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对齐并评估外部 GPT 预测。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更新 6800main.md 与最终文档。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960120"/>
            <a:ext cx="51663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A"/>
            </a:solidFill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最终结论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固定拒绝率公平比较下，结构化模型仍是主判首选。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两阶段 LLM 当前更适合作为解释与复核辅助层。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下一步方向是“结构化主判 + LLM 解释 + 人工复核联动”。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4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6800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基于借款描述文本的信用违约评估：传统模型与两阶段 LLM 的统一口径实验</dc:title>
  <dc:subject>6800 Final Project Presentation</dc:subject>
  <dc:creator>&lt;姓名/学号&gt;</dc:creator>
  <cp:lastModifiedBy>&lt;姓名/学号&gt;</cp:lastModifiedBy>
  <cp:revision>1</cp:revision>
  <dcterms:created xsi:type="dcterms:W3CDTF">2026-02-21T21:09:36Z</dcterms:created>
  <dcterms:modified xsi:type="dcterms:W3CDTF">2026-02-21T21:09:36Z</dcterms:modified>
</cp:coreProperties>
</file>